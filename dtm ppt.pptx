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77" d="100"/>
          <a:sy n="77" d="100"/>
        </p:scale>
        <p:origin x="77"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390F74-1378-439A-8D0E-E319A0B85469}"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0D7156-933A-4E17-92DA-05EA9FF035A8}" type="slidenum">
              <a:rPr lang="en-US" smtClean="0"/>
              <a:t>‹#›</a:t>
            </a:fld>
            <a:endParaRPr lang="en-US"/>
          </a:p>
        </p:txBody>
      </p:sp>
    </p:spTree>
    <p:extLst>
      <p:ext uri="{BB962C8B-B14F-4D97-AF65-F5344CB8AC3E}">
        <p14:creationId xmlns:p14="http://schemas.microsoft.com/office/powerpoint/2010/main" val="2995889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A9A27D-71C4-45D1-AA73-A5F377F34E0F}"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6006FC2-E735-4330-B7AE-F999FA8EC852}"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125D614-1E26-41C0-A503-3134E3FE5831}"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853D75-51C3-4DBC-BBC5-06370865DA73}" type="datetime1">
              <a:rPr lang="en-US" smtClean="0"/>
              <a:t>11/6/2025</a:t>
            </a:fld>
            <a:endParaRPr lang="en-US" dirty="0"/>
          </a:p>
        </p:txBody>
      </p:sp>
      <p:sp>
        <p:nvSpPr>
          <p:cNvPr id="6" name="Footer Placeholder 5"/>
          <p:cNvSpPr>
            <a:spLocks noGrp="1"/>
          </p:cNvSpPr>
          <p:nvPr>
            <p:ph type="ftr" sz="quarter" idx="11"/>
          </p:nvPr>
        </p:nvSpPr>
        <p:spPr/>
        <p:txBody>
          <a:bodyPr/>
          <a:lstStyle/>
          <a:p>
            <a:r>
              <a:rPr lang="en-US" dirty="0"/>
              <a:t>A. Bhaskar</a:t>
            </a:r>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481519-8E78-47DD-8EB0-6A6D59CE1B35}" type="datetime1">
              <a:rPr lang="en-US" smtClean="0"/>
              <a:t>11/6/2025</a:t>
            </a:fld>
            <a:endParaRPr lang="en-US" dirty="0"/>
          </a:p>
        </p:txBody>
      </p:sp>
      <p:sp>
        <p:nvSpPr>
          <p:cNvPr id="8" name="Footer Placeholder 7"/>
          <p:cNvSpPr>
            <a:spLocks noGrp="1"/>
          </p:cNvSpPr>
          <p:nvPr>
            <p:ph type="ftr" sz="quarter" idx="11"/>
          </p:nvPr>
        </p:nvSpPr>
        <p:spPr/>
        <p:txBody>
          <a:bodyPr/>
          <a:lstStyle/>
          <a:p>
            <a:r>
              <a:rPr lang="en-US" dirty="0"/>
              <a:t>A. Bhaskar</a:t>
            </a:r>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06AC381-EB57-4302-BBE9-293307582F8D}" type="datetime1">
              <a:rPr lang="en-US" smtClean="0"/>
              <a:t>11/6/2025</a:t>
            </a:fld>
            <a:endParaRPr lang="en-US" dirty="0"/>
          </a:p>
        </p:txBody>
      </p:sp>
      <p:sp>
        <p:nvSpPr>
          <p:cNvPr id="5" name="Footer Placeholder 3"/>
          <p:cNvSpPr>
            <a:spLocks noGrp="1"/>
          </p:cNvSpPr>
          <p:nvPr>
            <p:ph type="ftr" sz="quarter" idx="11"/>
          </p:nvPr>
        </p:nvSpPr>
        <p:spPr/>
        <p:txBody>
          <a:bodyPr/>
          <a:lstStyle/>
          <a:p>
            <a:r>
              <a:rPr lang="en-US" dirty="0"/>
              <a:t>A. Bhaskar</a:t>
            </a:r>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5CB79E3-0DEC-41AB-A549-21CE4D94A8D8}" type="datetime1">
              <a:rPr lang="en-US" smtClean="0"/>
              <a:t>11/6/2025</a:t>
            </a:fld>
            <a:endParaRPr lang="en-US" dirty="0"/>
          </a:p>
        </p:txBody>
      </p:sp>
      <p:sp>
        <p:nvSpPr>
          <p:cNvPr id="5" name="Footer Placeholder 2"/>
          <p:cNvSpPr>
            <a:spLocks noGrp="1"/>
          </p:cNvSpPr>
          <p:nvPr>
            <p:ph type="ftr" sz="quarter" idx="11"/>
          </p:nvPr>
        </p:nvSpPr>
        <p:spPr/>
        <p:txBody>
          <a:bodyPr/>
          <a:lstStyle/>
          <a:p>
            <a:r>
              <a:rPr lang="en-US" dirty="0"/>
              <a:t>A. Bhaskar</a:t>
            </a:r>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AA1018FE-EE8B-4126-94BE-3E8500C611AC}" type="datetime1">
              <a:rPr lang="en-US" smtClean="0"/>
              <a:t>11/6/2025</a:t>
            </a:fld>
            <a:endParaRPr lang="en-US" dirty="0"/>
          </a:p>
        </p:txBody>
      </p:sp>
      <p:sp>
        <p:nvSpPr>
          <p:cNvPr id="5" name="Footer Placeholder 5"/>
          <p:cNvSpPr>
            <a:spLocks noGrp="1"/>
          </p:cNvSpPr>
          <p:nvPr>
            <p:ph type="ftr" sz="quarter" idx="11"/>
          </p:nvPr>
        </p:nvSpPr>
        <p:spPr/>
        <p:txBody>
          <a:bodyPr/>
          <a:lstStyle/>
          <a:p>
            <a:r>
              <a:rPr lang="en-US" dirty="0"/>
              <a:t>A. Bhaskar</a:t>
            </a:r>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EE85A58-A380-408B-911F-CEAB506A4FB6}" type="datetime1">
              <a:rPr lang="en-US" smtClean="0"/>
              <a:t>11/6/2025</a:t>
            </a:fld>
            <a:endParaRPr lang="en-US" dirty="0"/>
          </a:p>
        </p:txBody>
      </p:sp>
      <p:sp>
        <p:nvSpPr>
          <p:cNvPr id="6" name="Footer Placeholder 5"/>
          <p:cNvSpPr>
            <a:spLocks noGrp="1"/>
          </p:cNvSpPr>
          <p:nvPr>
            <p:ph type="ftr" sz="quarter" idx="11"/>
          </p:nvPr>
        </p:nvSpPr>
        <p:spPr/>
        <p:txBody>
          <a:bodyPr/>
          <a:lstStyle/>
          <a:p>
            <a:r>
              <a:rPr lang="en-US" dirty="0"/>
              <a:t>A. Bhaskar</a:t>
            </a:r>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8DBFD60-50F0-4EDD-B846-091181680986}" type="datetime1">
              <a:rPr lang="en-US" smtClean="0"/>
              <a:t>11/6/2025</a:t>
            </a:fld>
            <a:endParaRPr lang="en-US" dirty="0"/>
          </a:p>
        </p:txBody>
      </p:sp>
      <p:sp>
        <p:nvSpPr>
          <p:cNvPr id="6" name="Footer Placeholder 5"/>
          <p:cNvSpPr>
            <a:spLocks noGrp="1"/>
          </p:cNvSpPr>
          <p:nvPr>
            <p:ph type="ftr" sz="quarter" idx="11"/>
          </p:nvPr>
        </p:nvSpPr>
        <p:spPr/>
        <p:txBody>
          <a:bodyPr/>
          <a:lstStyle/>
          <a:p>
            <a:r>
              <a:rPr lang="en-US" dirty="0"/>
              <a:t>A. Bhaskar</a:t>
            </a:r>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688B6AB-ED08-4DCB-AD88-B405A83772F6}"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0157C9-DB9A-4315-BD95-306DE2204573}"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91E1C5-5E2D-4D4F-8644-2E75535FF0E7}"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2AF385F-9CF1-4673-A2C7-440AC4F1F122}" type="datetime1">
              <a:rPr lang="en-US" smtClean="0"/>
              <a:t>11/6/2025</a:t>
            </a:fld>
            <a:endParaRPr lang="en-US" dirty="0"/>
          </a:p>
        </p:txBody>
      </p:sp>
      <p:sp>
        <p:nvSpPr>
          <p:cNvPr id="4"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7D45FE-9477-4865-A04E-F8135644A07E}" type="datetime1">
              <a:rPr lang="en-US" smtClean="0"/>
              <a:t>11/6/2025</a:t>
            </a:fld>
            <a:endParaRPr lang="en-US" dirty="0"/>
          </a:p>
        </p:txBody>
      </p:sp>
      <p:sp>
        <p:nvSpPr>
          <p:cNvPr id="4"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1FFD51-EEA4-457A-BB6A-997B7699B511}"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BC78-9643-4BA0-806C-877C79C01C72}" type="datetime1">
              <a:rPr lang="en-US" smtClean="0"/>
              <a:t>11/6/2025</a:t>
            </a:fld>
            <a:endParaRPr lang="en-US" dirty="0"/>
          </a:p>
        </p:txBody>
      </p:sp>
      <p:sp>
        <p:nvSpPr>
          <p:cNvPr id="5" name="Footer Placeholder 4"/>
          <p:cNvSpPr>
            <a:spLocks noGrp="1"/>
          </p:cNvSpPr>
          <p:nvPr>
            <p:ph type="ftr" sz="quarter" idx="11"/>
          </p:nvPr>
        </p:nvSpPr>
        <p:spPr/>
        <p:txBody>
          <a:bodyPr/>
          <a:lstStyle/>
          <a:p>
            <a:r>
              <a:rPr lang="en-US" dirty="0"/>
              <a:t>A. Bhaskar</a:t>
            </a:r>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image" Target="../media/image4.png"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3.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image" Target="../media/image5.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5E80519-2CE8-47C4-9F2C-3465808E71C5}" type="datetime1">
              <a:rPr lang="en-US" smtClean="0"/>
              <a:t>11/6/2025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dirty="0"/>
              <a:t>A. Bhaskar</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hd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
        <p:nvSpPr>
          <p:cNvPr id="5" name="Title 4"/>
          <p:cNvSpPr>
            <a:spLocks noGrp="1"/>
          </p:cNvSpPr>
          <p:nvPr>
            <p:ph type="ctrTitle"/>
          </p:nvPr>
        </p:nvSpPr>
        <p:spPr>
          <a:xfrm>
            <a:off x="2229374" y="1234440"/>
            <a:ext cx="8846295" cy="1885950"/>
          </a:xfrm>
        </p:spPr>
        <p:txBody>
          <a:bodyPr/>
          <a:lstStyle/>
          <a:p>
            <a:r>
              <a:rPr lang="en-US" sz="4000" dirty="0"/>
              <a:t>Design Thinking and Methodology</a:t>
            </a:r>
            <a:br>
              <a:rPr lang="en-US" sz="4000" dirty="0"/>
            </a:br>
            <a:r>
              <a:rPr lang="en-US" sz="2800" dirty="0">
                <a:solidFill>
                  <a:srgbClr val="FF0000"/>
                </a:solidFill>
              </a:rPr>
              <a:t>VIVA VOCE – 06.11.2025</a:t>
            </a:r>
            <a:br>
              <a:rPr lang="en-US" sz="2800" dirty="0">
                <a:solidFill>
                  <a:srgbClr val="FF0000"/>
                </a:solidFill>
              </a:rPr>
            </a:br>
            <a:endParaRPr lang="en-US" sz="4000" dirty="0"/>
          </a:p>
        </p:txBody>
      </p:sp>
      <p:sp>
        <p:nvSpPr>
          <p:cNvPr id="6" name="Rectangle 5"/>
          <p:cNvSpPr/>
          <p:nvPr/>
        </p:nvSpPr>
        <p:spPr>
          <a:xfrm>
            <a:off x="3048000" y="2967335"/>
            <a:ext cx="6096000" cy="2862322"/>
          </a:xfrm>
          <a:prstGeom prst="rect">
            <a:avLst/>
          </a:prstGeom>
        </p:spPr>
        <p:txBody>
          <a:bodyPr>
            <a:spAutoFit/>
          </a:bodyPr>
          <a:lstStyle/>
          <a:p>
            <a:r>
              <a:rPr lang="en-US" dirty="0"/>
              <a:t>TITLE: </a:t>
            </a:r>
            <a:r>
              <a:rPr lang="en-US" dirty="0" err="1">
                <a:latin typeface="+mj-lt"/>
              </a:rPr>
              <a:t>GreyWater</a:t>
            </a:r>
            <a:r>
              <a:rPr lang="en-US" dirty="0">
                <a:latin typeface="+mj-lt"/>
              </a:rPr>
              <a:t> Tracking System</a:t>
            </a:r>
          </a:p>
          <a:p>
            <a:endParaRPr lang="en-US" dirty="0"/>
          </a:p>
          <a:p>
            <a:br>
              <a:rPr lang="en-US" dirty="0"/>
            </a:br>
            <a:r>
              <a:rPr lang="en-US" dirty="0"/>
              <a:t>TEAM MEMBERS: </a:t>
            </a:r>
            <a:r>
              <a:rPr lang="en-US" dirty="0">
                <a:latin typeface="+mj-lt"/>
              </a:rPr>
              <a:t>S.Nandhukesh-RA2411004020062</a:t>
            </a:r>
          </a:p>
          <a:p>
            <a:r>
              <a:rPr lang="en-US" dirty="0">
                <a:latin typeface="+mj-lt"/>
              </a:rPr>
              <a:t>                             R.Saravanan-RA2411004020056</a:t>
            </a:r>
          </a:p>
          <a:p>
            <a:r>
              <a:rPr lang="en-US" dirty="0">
                <a:latin typeface="+mj-lt"/>
              </a:rPr>
              <a:t>                             C.Ruthrapathy-RA2411004020041</a:t>
            </a:r>
          </a:p>
          <a:p>
            <a:r>
              <a:rPr lang="en-US" dirty="0">
                <a:latin typeface="+mj-lt"/>
              </a:rPr>
              <a:t>                             Yagnesh K-RA2411004020011</a:t>
            </a:r>
          </a:p>
          <a:p>
            <a:r>
              <a:rPr lang="en-US" dirty="0"/>
              <a:t>                     </a:t>
            </a:r>
          </a:p>
          <a:p>
            <a:endParaRPr lang="en-US" dirty="0"/>
          </a:p>
          <a:p>
            <a:endParaRPr lang="en-US" dirty="0"/>
          </a:p>
        </p:txBody>
      </p:sp>
    </p:spTree>
    <p:extLst>
      <p:ext uri="{BB962C8B-B14F-4D97-AF65-F5344CB8AC3E}">
        <p14:creationId xmlns:p14="http://schemas.microsoft.com/office/powerpoint/2010/main" val="183658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p:txBody>
          <a:bodyPr/>
          <a:lstStyle/>
          <a:p>
            <a:r>
              <a:rPr lang="en-US" dirty="0"/>
              <a:t>Our project focuses on promoting sustainable water management through the tracking and analysis of greywater. Greywater, which is wastewater from domestic activities such as washing and cleaning, can be reused for purposes like gardening and toilet flushing. The developed mobile application enables users to input the amount of greywater collected, record its reuse type, and view weekly, monthly, and yearly analytics. The app helps users monitor water savings and understand their environmental impact.</a:t>
            </a:r>
          </a:p>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2</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Tree>
    <p:extLst>
      <p:ext uri="{BB962C8B-B14F-4D97-AF65-F5344CB8AC3E}">
        <p14:creationId xmlns:p14="http://schemas.microsoft.com/office/powerpoint/2010/main" val="1354697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p>
        </p:txBody>
      </p:sp>
      <p:sp>
        <p:nvSpPr>
          <p:cNvPr id="3" name="Content Placeholder 2"/>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1.  Studies show that over 60% of household wastewater can be reused if properly monitored and treated.</a:t>
            </a:r>
          </a:p>
          <a:p>
            <a:r>
              <a:rPr lang="en-US" sz="2400" dirty="0">
                <a:latin typeface="Arial" panose="020B0604020202020204" pitchFamily="34" charset="0"/>
                <a:cs typeface="Arial" panose="020B0604020202020204" pitchFamily="34" charset="0"/>
              </a:rPr>
              <a:t>2.  Existing works mostly focus on hardware-based greywater</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recycling rather than digital tracking.</a:t>
            </a:r>
          </a:p>
          <a:p>
            <a:r>
              <a:rPr lang="en-US" sz="2400" dirty="0">
                <a:latin typeface="Arial" panose="020B0604020202020204" pitchFamily="34" charset="0"/>
                <a:cs typeface="Arial" panose="020B0604020202020204" pitchFamily="34" charset="0"/>
              </a:rPr>
              <a:t>3.  Previous research emphasizes the need for awareness and monitoring tools to support water conservation.</a:t>
            </a:r>
          </a:p>
          <a:p>
            <a:r>
              <a:rPr lang="en-US" sz="2400" dirty="0">
                <a:latin typeface="Arial" panose="020B0604020202020204" pitchFamily="34" charset="0"/>
                <a:cs typeface="Arial" panose="020B0604020202020204" pitchFamily="34" charset="0"/>
              </a:rPr>
              <a:t>4.  Our app addresses this gap through an accessible, data-driven, and user-friendly mobile solution.</a:t>
            </a:r>
          </a:p>
          <a:p>
            <a:endParaRPr lang="en-US" sz="2400" dirty="0"/>
          </a:p>
        </p:txBody>
      </p:sp>
      <p:sp>
        <p:nvSpPr>
          <p:cNvPr id="5" name="Slide Number Placeholder 4"/>
          <p:cNvSpPr>
            <a:spLocks noGrp="1"/>
          </p:cNvSpPr>
          <p:nvPr>
            <p:ph type="sldNum" sz="quarter" idx="12"/>
          </p:nvPr>
        </p:nvSpPr>
        <p:spPr/>
        <p:txBody>
          <a:bodyPr/>
          <a:lstStyle/>
          <a:p>
            <a:fld id="{D57F1E4F-1CFF-5643-939E-02111984F565}" type="slidenum">
              <a:rPr lang="en-US" smtClean="0"/>
              <a:t>3</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Tree>
    <p:extLst>
      <p:ext uri="{BB962C8B-B14F-4D97-AF65-F5344CB8AC3E}">
        <p14:creationId xmlns:p14="http://schemas.microsoft.com/office/powerpoint/2010/main" val="4283969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METHOD</a:t>
            </a:r>
          </a:p>
        </p:txBody>
      </p:sp>
      <p:sp>
        <p:nvSpPr>
          <p:cNvPr id="5" name="Slide Number Placeholder 4"/>
          <p:cNvSpPr>
            <a:spLocks noGrp="1"/>
          </p:cNvSpPr>
          <p:nvPr>
            <p:ph type="sldNum" sz="quarter" idx="12"/>
          </p:nvPr>
        </p:nvSpPr>
        <p:spPr/>
        <p:txBody>
          <a:bodyPr/>
          <a:lstStyle/>
          <a:p>
            <a:fld id="{D57F1E4F-1CFF-5643-939E-02111984F565}" type="slidenum">
              <a:rPr lang="en-US" smtClean="0"/>
              <a:t>4</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
        <p:nvSpPr>
          <p:cNvPr id="7" name="Rectangle 2">
            <a:extLst>
              <a:ext uri="{FF2B5EF4-FFF2-40B4-BE49-F238E27FC236}">
                <a16:creationId xmlns:a16="http://schemas.microsoft.com/office/drawing/2014/main" id="{F3B64063-9E6B-E3A5-A59E-E48EB4ABE3F6}"/>
              </a:ext>
            </a:extLst>
          </p:cNvPr>
          <p:cNvSpPr>
            <a:spLocks noGrp="1" noChangeArrowheads="1"/>
          </p:cNvSpPr>
          <p:nvPr>
            <p:ph idx="1"/>
          </p:nvPr>
        </p:nvSpPr>
        <p:spPr bwMode="auto">
          <a:xfrm>
            <a:off x="646111" y="2005279"/>
            <a:ext cx="1007444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Manual tracking using notebooks or spreadsheets.</a:t>
            </a:r>
          </a:p>
          <a:p>
            <a:pPr defTabSz="914400" eaLnBrk="0" fontAlgn="base" hangingPunct="0">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Lack of real-time visualization and analysis.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No awareness or feedback on greywater reuse trends.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Difficult to measure total savings and environmental benefits.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Data is often inconsistent and easily lost due to manual entry.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No centralized system for comparing or analyzing greywater reuse across users</a:t>
            </a:r>
          </a:p>
        </p:txBody>
      </p:sp>
    </p:spTree>
    <p:extLst>
      <p:ext uri="{BB962C8B-B14F-4D97-AF65-F5344CB8AC3E}">
        <p14:creationId xmlns:p14="http://schemas.microsoft.com/office/powerpoint/2010/main" val="1373441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METHOD</a:t>
            </a:r>
          </a:p>
        </p:txBody>
      </p:sp>
      <p:sp>
        <p:nvSpPr>
          <p:cNvPr id="5" name="Slide Number Placeholder 4"/>
          <p:cNvSpPr>
            <a:spLocks noGrp="1"/>
          </p:cNvSpPr>
          <p:nvPr>
            <p:ph type="sldNum" sz="quarter" idx="12"/>
          </p:nvPr>
        </p:nvSpPr>
        <p:spPr/>
        <p:txBody>
          <a:bodyPr/>
          <a:lstStyle/>
          <a:p>
            <a:fld id="{D57F1E4F-1CFF-5643-939E-02111984F565}" type="slidenum">
              <a:rPr lang="en-US" smtClean="0"/>
              <a:t>5</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
        <p:nvSpPr>
          <p:cNvPr id="4" name="Rectangle 1">
            <a:extLst>
              <a:ext uri="{FF2B5EF4-FFF2-40B4-BE49-F238E27FC236}">
                <a16:creationId xmlns:a16="http://schemas.microsoft.com/office/drawing/2014/main" id="{F2CC7491-8262-6257-FCD1-E8B92A8F9008}"/>
              </a:ext>
            </a:extLst>
          </p:cNvPr>
          <p:cNvSpPr>
            <a:spLocks noGrp="1" noChangeArrowheads="1"/>
          </p:cNvSpPr>
          <p:nvPr>
            <p:ph idx="1"/>
          </p:nvPr>
        </p:nvSpPr>
        <p:spPr bwMode="auto">
          <a:xfrm>
            <a:off x="646111" y="2042255"/>
            <a:ext cx="1132232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mobile app </a:t>
            </a:r>
            <a:r>
              <a:rPr kumimoji="0" lang="en-US" altLang="en-US" b="0" i="0" u="none" strike="noStrike" cap="none" normalizeH="0" baseline="0" dirty="0">
                <a:ln>
                  <a:noFill/>
                </a:ln>
                <a:solidFill>
                  <a:schemeClr val="tx1"/>
                </a:solidFill>
                <a:effectLst/>
                <a:latin typeface="Arial" panose="020B0604020202020204" pitchFamily="34" charset="0"/>
              </a:rPr>
              <a:t>that tracks greywater collection and reuse.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User inputs: </a:t>
            </a:r>
            <a:r>
              <a:rPr kumimoji="0" lang="en-US" altLang="en-US" b="0" i="1" u="none" strike="noStrike" cap="none" normalizeH="0" baseline="0" dirty="0" err="1">
                <a:ln>
                  <a:noFill/>
                </a:ln>
                <a:solidFill>
                  <a:schemeClr val="tx1"/>
                </a:solidFill>
                <a:effectLst/>
                <a:latin typeface="Arial" panose="020B0604020202020204" pitchFamily="34" charset="0"/>
              </a:rPr>
              <a:t>Litres</a:t>
            </a:r>
            <a:r>
              <a:rPr kumimoji="0" lang="en-US" altLang="en-US" b="0" i="1" u="none" strike="noStrike" cap="none" normalizeH="0" baseline="0" dirty="0">
                <a:ln>
                  <a:noFill/>
                </a:ln>
                <a:solidFill>
                  <a:schemeClr val="tx1"/>
                </a:solidFill>
                <a:effectLst/>
                <a:latin typeface="Arial" panose="020B0604020202020204" pitchFamily="34" charset="0"/>
              </a:rPr>
              <a:t> collected</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0" i="1" u="none" strike="noStrike" cap="none" normalizeH="0" baseline="0" dirty="0">
                <a:ln>
                  <a:noFill/>
                </a:ln>
                <a:solidFill>
                  <a:schemeClr val="tx1"/>
                </a:solidFill>
                <a:effectLst/>
                <a:latin typeface="Arial" panose="020B0604020202020204" pitchFamily="34" charset="0"/>
              </a:rPr>
              <a:t>reuse purpose</a:t>
            </a:r>
            <a:r>
              <a:rPr kumimoji="0" lang="en-US" altLang="en-US"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The system generates </a:t>
            </a:r>
            <a:r>
              <a:rPr lang="en-US" altLang="en-US" dirty="0">
                <a:latin typeface="Arial" panose="020B0604020202020204" pitchFamily="34" charset="0"/>
              </a:rPr>
              <a:t>data analytics(charts and graph)</a:t>
            </a:r>
            <a:r>
              <a:rPr kumimoji="0" lang="en-US" altLang="en-US" i="0" u="none" strike="noStrike" cap="none" normalizeH="0" baseline="0" dirty="0">
                <a:ln>
                  <a:noFill/>
                </a:ln>
                <a:solidFill>
                  <a:schemeClr val="tx1"/>
                </a:solidFill>
                <a:effectLst/>
                <a:latin typeface="Arial" panose="020B0604020202020204" pitchFamily="34" charset="0"/>
              </a:rPr>
              <a:t>for</a:t>
            </a:r>
            <a:r>
              <a:rPr kumimoji="0" lang="en-US" altLang="en-US" b="0" i="0" u="none" strike="noStrike" cap="none" normalizeH="0" baseline="0" dirty="0">
                <a:ln>
                  <a:noFill/>
                </a:ln>
                <a:solidFill>
                  <a:schemeClr val="tx1"/>
                </a:solidFill>
                <a:effectLst/>
                <a:latin typeface="Arial" panose="020B0604020202020204" pitchFamily="34" charset="0"/>
              </a:rPr>
              <a:t> week, month, and year.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Helps users identify reuse patterns and optimize recycling habits.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Provides </a:t>
            </a:r>
            <a:r>
              <a:rPr kumimoji="0" lang="en-US" altLang="en-US" i="0" u="none" strike="noStrike" cap="none" normalizeH="0" baseline="0" dirty="0">
                <a:ln>
                  <a:noFill/>
                </a:ln>
                <a:solidFill>
                  <a:schemeClr val="tx1"/>
                </a:solidFill>
                <a:effectLst/>
                <a:latin typeface="Arial" panose="020B0604020202020204" pitchFamily="34" charset="0"/>
              </a:rPr>
              <a:t>visual reports </a:t>
            </a:r>
            <a:r>
              <a:rPr kumimoji="0" lang="en-US" altLang="en-US" b="0" i="0" u="none" strike="noStrike" cap="none" normalizeH="0" baseline="0" dirty="0">
                <a:ln>
                  <a:noFill/>
                </a:ln>
                <a:solidFill>
                  <a:schemeClr val="tx1"/>
                </a:solidFill>
                <a:effectLst/>
                <a:latin typeface="Arial" panose="020B0604020202020204" pitchFamily="34" charset="0"/>
              </a:rPr>
              <a:t>that motivate users to improve water reuse efficiency.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Stores all user data securely in a </a:t>
            </a:r>
            <a:r>
              <a:rPr kumimoji="0" lang="en-US" altLang="en-US" i="0" u="none" strike="noStrike" cap="none" normalizeH="0" baseline="0" dirty="0">
                <a:ln>
                  <a:noFill/>
                </a:ln>
                <a:solidFill>
                  <a:schemeClr val="tx1"/>
                </a:solidFill>
                <a:effectLst/>
                <a:latin typeface="Arial" panose="020B0604020202020204" pitchFamily="34" charset="0"/>
              </a:rPr>
              <a:t>database for long-term analysis </a:t>
            </a:r>
            <a:r>
              <a:rPr kumimoji="0" lang="en-US" altLang="en-US" b="0" i="0" u="none" strike="noStrike" cap="none" normalizeH="0" baseline="0" dirty="0">
                <a:ln>
                  <a:noFill/>
                </a:ln>
                <a:solidFill>
                  <a:schemeClr val="tx1"/>
                </a:solidFill>
                <a:effectLst/>
                <a:latin typeface="Arial" panose="020B0604020202020204" pitchFamily="34" charset="0"/>
              </a:rPr>
              <a:t>and sustainability insights</a:t>
            </a:r>
          </a:p>
        </p:txBody>
      </p:sp>
    </p:spTree>
    <p:extLst>
      <p:ext uri="{BB962C8B-B14F-4D97-AF65-F5344CB8AC3E}">
        <p14:creationId xmlns:p14="http://schemas.microsoft.com/office/powerpoint/2010/main" val="1992932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sp>
        <p:nvSpPr>
          <p:cNvPr id="3" name="Content Placeholder 2"/>
          <p:cNvSpPr>
            <a:spLocks noGrp="1"/>
          </p:cNvSpPr>
          <p:nvPr>
            <p:ph idx="1"/>
          </p:nvPr>
        </p:nvSpPr>
        <p:spPr/>
        <p:txBody>
          <a:bodyPr>
            <a:normAutofit/>
          </a:bodyPr>
          <a:lstStyle/>
          <a:p>
            <a:r>
              <a:rPr lang="en-IN" sz="2400" b="1" dirty="0">
                <a:latin typeface="Arial" panose="020B0604020202020204" pitchFamily="34" charset="0"/>
                <a:ea typeface="Artifakt Element" panose="020B0503050000020004" pitchFamily="34" charset="0"/>
                <a:cs typeface="Arial" panose="020B0604020202020204" pitchFamily="34" charset="0"/>
              </a:rPr>
              <a:t>Step 1:</a:t>
            </a:r>
            <a:r>
              <a:rPr lang="en-IN" sz="2400" dirty="0">
                <a:latin typeface="Arial" panose="020B0604020202020204" pitchFamily="34" charset="0"/>
                <a:ea typeface="Artifakt Element" panose="020B0503050000020004" pitchFamily="34" charset="0"/>
                <a:cs typeface="Arial" panose="020B0604020202020204" pitchFamily="34" charset="0"/>
              </a:rPr>
              <a:t> Requirement analysis – identify inputs (litres, purpose) and outputs (charts).</a:t>
            </a:r>
            <a:br>
              <a:rPr lang="en-IN" sz="2400" dirty="0">
                <a:latin typeface="Arial" panose="020B0604020202020204" pitchFamily="34" charset="0"/>
                <a:ea typeface="Artifakt Element" panose="020B0503050000020004" pitchFamily="34" charset="0"/>
                <a:cs typeface="Arial" panose="020B0604020202020204" pitchFamily="34" charset="0"/>
              </a:rPr>
            </a:br>
            <a:r>
              <a:rPr lang="en-IN" sz="2400" b="1" dirty="0">
                <a:latin typeface="Arial" panose="020B0604020202020204" pitchFamily="34" charset="0"/>
                <a:ea typeface="Artifakt Element" panose="020B0503050000020004" pitchFamily="34" charset="0"/>
                <a:cs typeface="Arial" panose="020B0604020202020204" pitchFamily="34" charset="0"/>
              </a:rPr>
              <a:t>Step 2:</a:t>
            </a:r>
            <a:r>
              <a:rPr lang="en-IN" sz="2400" dirty="0">
                <a:latin typeface="Arial" panose="020B0604020202020204" pitchFamily="34" charset="0"/>
                <a:ea typeface="Artifakt Element" panose="020B0503050000020004" pitchFamily="34" charset="0"/>
                <a:cs typeface="Arial" panose="020B0604020202020204" pitchFamily="34" charset="0"/>
              </a:rPr>
              <a:t> UI design – simple form for data entry and dashboard for analytics.</a:t>
            </a:r>
            <a:br>
              <a:rPr lang="en-IN" sz="2400" dirty="0">
                <a:latin typeface="Arial" panose="020B0604020202020204" pitchFamily="34" charset="0"/>
                <a:ea typeface="Artifakt Element" panose="020B0503050000020004" pitchFamily="34" charset="0"/>
                <a:cs typeface="Arial" panose="020B0604020202020204" pitchFamily="34" charset="0"/>
              </a:rPr>
            </a:br>
            <a:r>
              <a:rPr lang="en-IN" sz="2400" b="1" dirty="0">
                <a:latin typeface="Arial" panose="020B0604020202020204" pitchFamily="34" charset="0"/>
                <a:ea typeface="Artifakt Element" panose="020B0503050000020004" pitchFamily="34" charset="0"/>
                <a:cs typeface="Arial" panose="020B0604020202020204" pitchFamily="34" charset="0"/>
              </a:rPr>
              <a:t>Step 3:</a:t>
            </a:r>
            <a:r>
              <a:rPr lang="en-IN" sz="2400" dirty="0">
                <a:latin typeface="Arial" panose="020B0604020202020204" pitchFamily="34" charset="0"/>
                <a:ea typeface="Artifakt Element" panose="020B0503050000020004" pitchFamily="34" charset="0"/>
                <a:cs typeface="Arial" panose="020B0604020202020204" pitchFamily="34" charset="0"/>
              </a:rPr>
              <a:t> Database – stores daily records (Firebase/SQLite).</a:t>
            </a:r>
            <a:br>
              <a:rPr lang="en-IN" sz="2400" dirty="0">
                <a:latin typeface="Arial" panose="020B0604020202020204" pitchFamily="34" charset="0"/>
                <a:ea typeface="Artifakt Element" panose="020B0503050000020004" pitchFamily="34" charset="0"/>
                <a:cs typeface="Arial" panose="020B0604020202020204" pitchFamily="34" charset="0"/>
              </a:rPr>
            </a:br>
            <a:r>
              <a:rPr lang="en-IN" sz="2400" b="1" dirty="0">
                <a:latin typeface="Arial" panose="020B0604020202020204" pitchFamily="34" charset="0"/>
                <a:ea typeface="Artifakt Element" panose="020B0503050000020004" pitchFamily="34" charset="0"/>
                <a:cs typeface="Arial" panose="020B0604020202020204" pitchFamily="34" charset="0"/>
              </a:rPr>
              <a:t>Step 4:</a:t>
            </a:r>
            <a:r>
              <a:rPr lang="en-IN" sz="2400" dirty="0">
                <a:latin typeface="Arial" panose="020B0604020202020204" pitchFamily="34" charset="0"/>
                <a:ea typeface="Artifakt Element" panose="020B0503050000020004" pitchFamily="34" charset="0"/>
                <a:cs typeface="Arial" panose="020B0604020202020204" pitchFamily="34" charset="0"/>
              </a:rPr>
              <a:t> Data visualization – converts data to weekly, monthly, yearly reports.</a:t>
            </a:r>
            <a:br>
              <a:rPr lang="en-IN" sz="2400" dirty="0">
                <a:latin typeface="Arial" panose="020B0604020202020204" pitchFamily="34" charset="0"/>
                <a:ea typeface="Artifakt Element" panose="020B0503050000020004" pitchFamily="34" charset="0"/>
                <a:cs typeface="Arial" panose="020B0604020202020204" pitchFamily="34" charset="0"/>
              </a:rPr>
            </a:br>
            <a:r>
              <a:rPr lang="en-IN" sz="2400" b="1" dirty="0">
                <a:latin typeface="Arial" panose="020B0604020202020204" pitchFamily="34" charset="0"/>
                <a:ea typeface="Artifakt Element" panose="020B0503050000020004" pitchFamily="34" charset="0"/>
                <a:cs typeface="Arial" panose="020B0604020202020204" pitchFamily="34" charset="0"/>
              </a:rPr>
              <a:t>Step 5:</a:t>
            </a:r>
            <a:r>
              <a:rPr lang="en-IN" sz="2400" dirty="0">
                <a:latin typeface="Arial" panose="020B0604020202020204" pitchFamily="34" charset="0"/>
                <a:ea typeface="Artifakt Element" panose="020B0503050000020004" pitchFamily="34" charset="0"/>
                <a:cs typeface="Arial" panose="020B0604020202020204" pitchFamily="34" charset="0"/>
              </a:rPr>
              <a:t> Testing – validate data accuracy and UI functionality.</a:t>
            </a:r>
            <a:br>
              <a:rPr lang="en-IN" sz="2400" dirty="0">
                <a:latin typeface="Arial" panose="020B0604020202020204" pitchFamily="34" charset="0"/>
                <a:ea typeface="Artifakt Element" panose="020B0503050000020004" pitchFamily="34" charset="0"/>
                <a:cs typeface="Arial" panose="020B0604020202020204" pitchFamily="34" charset="0"/>
              </a:rPr>
            </a:br>
            <a:r>
              <a:rPr lang="en-IN" sz="2400" b="1" dirty="0">
                <a:latin typeface="Arial" panose="020B0604020202020204" pitchFamily="34" charset="0"/>
                <a:ea typeface="Artifakt Element" panose="020B0503050000020004" pitchFamily="34" charset="0"/>
                <a:cs typeface="Arial" panose="020B0604020202020204" pitchFamily="34" charset="0"/>
              </a:rPr>
              <a:t>Step 6:</a:t>
            </a:r>
            <a:r>
              <a:rPr lang="en-IN" sz="2400" dirty="0">
                <a:latin typeface="Arial" panose="020B0604020202020204" pitchFamily="34" charset="0"/>
                <a:ea typeface="Artifakt Element" panose="020B0503050000020004" pitchFamily="34" charset="0"/>
                <a:cs typeface="Arial" panose="020B0604020202020204" pitchFamily="34" charset="0"/>
              </a:rPr>
              <a:t> Deployment – release as mobile app (Android platform)</a:t>
            </a:r>
            <a:endParaRPr lang="en-US" sz="2400" dirty="0">
              <a:latin typeface="Arial" panose="020B0604020202020204" pitchFamily="34" charset="0"/>
              <a:ea typeface="Artifakt Element" panose="020B05030500000200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D57F1E4F-1CFF-5643-939E-02111984F565}" type="slidenum">
              <a:rPr lang="en-US" smtClean="0"/>
              <a:t>6</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Tree>
    <p:extLst>
      <p:ext uri="{BB962C8B-B14F-4D97-AF65-F5344CB8AC3E}">
        <p14:creationId xmlns:p14="http://schemas.microsoft.com/office/powerpoint/2010/main" val="1128572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AND DISCUSSIONS</a:t>
            </a:r>
          </a:p>
        </p:txBody>
      </p:sp>
      <p:sp>
        <p:nvSpPr>
          <p:cNvPr id="5" name="Slide Number Placeholder 4"/>
          <p:cNvSpPr>
            <a:spLocks noGrp="1"/>
          </p:cNvSpPr>
          <p:nvPr>
            <p:ph type="sldNum" sz="quarter" idx="12"/>
          </p:nvPr>
        </p:nvSpPr>
        <p:spPr/>
        <p:txBody>
          <a:bodyPr/>
          <a:lstStyle/>
          <a:p>
            <a:fld id="{D57F1E4F-1CFF-5643-939E-02111984F565}" type="slidenum">
              <a:rPr lang="en-US" smtClean="0"/>
              <a:t>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
        <p:nvSpPr>
          <p:cNvPr id="4" name="Rectangle 1">
            <a:extLst>
              <a:ext uri="{FF2B5EF4-FFF2-40B4-BE49-F238E27FC236}">
                <a16:creationId xmlns:a16="http://schemas.microsoft.com/office/drawing/2014/main" id="{9402B5A2-8FF3-39B9-8E19-C66CA91579B9}"/>
              </a:ext>
            </a:extLst>
          </p:cNvPr>
          <p:cNvSpPr>
            <a:spLocks noGrp="1" noChangeArrowheads="1"/>
          </p:cNvSpPr>
          <p:nvPr>
            <p:ph idx="1"/>
          </p:nvPr>
        </p:nvSpPr>
        <p:spPr bwMode="auto">
          <a:xfrm>
            <a:off x="646111" y="1566040"/>
            <a:ext cx="704677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The app successfully tracks greywater data and displays clear analytics.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Weekly and monthly summaries show water reuse progress.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Improved user awareness about greywater potential.</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Demonstrated reduction in water wastage when users track their reuse activities.</a:t>
            </a:r>
          </a:p>
        </p:txBody>
      </p:sp>
    </p:spTree>
    <p:extLst>
      <p:ext uri="{BB962C8B-B14F-4D97-AF65-F5344CB8AC3E}">
        <p14:creationId xmlns:p14="http://schemas.microsoft.com/office/powerpoint/2010/main" val="1139178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a:xfrm>
            <a:off x="1103312" y="2052919"/>
            <a:ext cx="9404723" cy="2951834"/>
          </a:xfrm>
        </p:spPr>
        <p:txBody>
          <a:bodyPr>
            <a:normAutofit fontScale="92500" lnSpcReduction="20000"/>
          </a:bodyPr>
          <a:lstStyle/>
          <a:p>
            <a:r>
              <a:rPr lang="en-US" sz="2200" dirty="0">
                <a:latin typeface="Arial" panose="020B0604020202020204" pitchFamily="34" charset="0"/>
                <a:cs typeface="Arial" panose="020B0604020202020204" pitchFamily="34" charset="0"/>
              </a:rPr>
              <a:t>The Greywater Tracking and Analysis App provides a smart and efficient way to monitor greywater reuse. It helps users record daily water recycling data and view clear analytics to understand their water-saving impact. The project encourages sustainable practices and spreads awareness about the importance of reusing greywater. Overall, it contributes to reducing water wastage and promoting eco-friendly living.</a:t>
            </a:r>
          </a:p>
          <a:p>
            <a:r>
              <a:rPr lang="en-US" sz="2200" dirty="0">
                <a:latin typeface="Arial" panose="020B0604020202020204" pitchFamily="34" charset="0"/>
                <a:cs typeface="Arial" panose="020B0604020202020204" pitchFamily="34" charset="0"/>
              </a:rPr>
              <a:t>Additionally, the app simplifies tracking through a clean interface and accurate data visualization. It can be easily adapted for schools, apartments, and communities to promote collective water management. This project demonstrates how technology can support sustainability and help build a greener future.</a:t>
            </a:r>
          </a:p>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8</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Tree>
    <p:extLst>
      <p:ext uri="{BB962C8B-B14F-4D97-AF65-F5344CB8AC3E}">
        <p14:creationId xmlns:p14="http://schemas.microsoft.com/office/powerpoint/2010/main" val="810136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a:t>
            </a:r>
          </a:p>
        </p:txBody>
      </p:sp>
      <p:sp>
        <p:nvSpPr>
          <p:cNvPr id="5" name="Slide Number Placeholder 4"/>
          <p:cNvSpPr>
            <a:spLocks noGrp="1"/>
          </p:cNvSpPr>
          <p:nvPr>
            <p:ph type="sldNum" sz="quarter" idx="12"/>
          </p:nvPr>
        </p:nvSpPr>
        <p:spPr/>
        <p:txBody>
          <a:bodyPr/>
          <a:lstStyle/>
          <a:p>
            <a:fld id="{D57F1E4F-1CFF-5643-939E-02111984F565}" type="slidenum">
              <a:rPr lang="en-US" smtClean="0"/>
              <a:t>9</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1" y="6139933"/>
            <a:ext cx="1471449" cy="718067"/>
          </a:xfrm>
          <a:prstGeom prst="rect">
            <a:avLst/>
          </a:prstGeom>
        </p:spPr>
      </p:pic>
      <p:sp>
        <p:nvSpPr>
          <p:cNvPr id="4" name="Rectangle 1">
            <a:extLst>
              <a:ext uri="{FF2B5EF4-FFF2-40B4-BE49-F238E27FC236}">
                <a16:creationId xmlns:a16="http://schemas.microsoft.com/office/drawing/2014/main" id="{5FEA0443-45DC-4087-893D-5BC58F4F87DF}"/>
              </a:ext>
            </a:extLst>
          </p:cNvPr>
          <p:cNvSpPr>
            <a:spLocks noGrp="1" noChangeArrowheads="1"/>
          </p:cNvSpPr>
          <p:nvPr>
            <p:ph idx="1"/>
          </p:nvPr>
        </p:nvSpPr>
        <p:spPr bwMode="auto">
          <a:xfrm>
            <a:off x="1119406" y="1531939"/>
            <a:ext cx="845813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Integration of </a:t>
            </a:r>
            <a:r>
              <a:rPr kumimoji="0" lang="en-US" altLang="en-US" i="0" u="none" strike="noStrike" cap="none" normalizeH="0" baseline="0" dirty="0">
                <a:ln>
                  <a:noFill/>
                </a:ln>
                <a:solidFill>
                  <a:schemeClr val="tx1"/>
                </a:solidFill>
                <a:effectLst/>
                <a:latin typeface="Arial" panose="020B0604020202020204" pitchFamily="34" charset="0"/>
              </a:rPr>
              <a:t>IoT sensors </a:t>
            </a:r>
            <a:r>
              <a:rPr kumimoji="0" lang="en-US" altLang="en-US" b="0" i="0" u="none" strike="noStrike" cap="none" normalizeH="0" baseline="0" dirty="0">
                <a:ln>
                  <a:noFill/>
                </a:ln>
                <a:solidFill>
                  <a:schemeClr val="tx1"/>
                </a:solidFill>
                <a:effectLst/>
                <a:latin typeface="Arial" panose="020B0604020202020204" pitchFamily="34" charset="0"/>
              </a:rPr>
              <a:t>to automatically measure and upload greywater data without manual input.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Addition of </a:t>
            </a:r>
            <a:r>
              <a:rPr kumimoji="0" lang="en-US" altLang="en-US" i="0" u="none" strike="noStrike" cap="none" normalizeH="0" baseline="0" dirty="0">
                <a:ln>
                  <a:noFill/>
                </a:ln>
                <a:solidFill>
                  <a:schemeClr val="tx1"/>
                </a:solidFill>
                <a:effectLst/>
                <a:latin typeface="Arial" panose="020B0604020202020204" pitchFamily="34" charset="0"/>
              </a:rPr>
              <a:t>AI-based insights </a:t>
            </a:r>
            <a:r>
              <a:rPr kumimoji="0" lang="en-US" altLang="en-US" b="0" i="0" u="none" strike="noStrike" cap="none" normalizeH="0" baseline="0" dirty="0">
                <a:ln>
                  <a:noFill/>
                </a:ln>
                <a:solidFill>
                  <a:schemeClr val="tx1"/>
                </a:solidFill>
                <a:effectLst/>
                <a:latin typeface="Arial" panose="020B0604020202020204" pitchFamily="34" charset="0"/>
              </a:rPr>
              <a:t>to predict future water usage and provide smart suggestions for efficient reuse.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Development of a </a:t>
            </a:r>
            <a:r>
              <a:rPr kumimoji="0" lang="en-US" altLang="en-US" i="0" u="none" strike="noStrike" cap="none" normalizeH="0" baseline="0" dirty="0">
                <a:ln>
                  <a:noFill/>
                </a:ln>
                <a:solidFill>
                  <a:schemeClr val="tx1"/>
                </a:solidFill>
                <a:effectLst/>
                <a:latin typeface="Arial" panose="020B0604020202020204" pitchFamily="34" charset="0"/>
              </a:rPr>
              <a:t>community dashboard </a:t>
            </a:r>
            <a:r>
              <a:rPr kumimoji="0" lang="en-US" altLang="en-US" b="0" i="0" u="none" strike="noStrike" cap="none" normalizeH="0" baseline="0" dirty="0">
                <a:ln>
                  <a:noFill/>
                </a:ln>
                <a:solidFill>
                  <a:schemeClr val="tx1"/>
                </a:solidFill>
                <a:effectLst/>
                <a:latin typeface="Arial" panose="020B0604020202020204" pitchFamily="34" charset="0"/>
              </a:rPr>
              <a:t>to compare and share water-saving progress among users.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Expansion of the app for </a:t>
            </a:r>
            <a:r>
              <a:rPr kumimoji="0" lang="en-US" altLang="en-US" i="0" u="none" strike="noStrike" cap="none" normalizeH="0" baseline="0" dirty="0">
                <a:ln>
                  <a:noFill/>
                </a:ln>
                <a:solidFill>
                  <a:schemeClr val="tx1"/>
                </a:solidFill>
                <a:effectLst/>
                <a:latin typeface="Arial" panose="020B0604020202020204" pitchFamily="34" charset="0"/>
              </a:rPr>
              <a:t>industrial, apartment, and institutional applications to manage large-scale greywater systems.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Implementation of </a:t>
            </a:r>
            <a:r>
              <a:rPr kumimoji="0" lang="en-US" altLang="en-US" i="0" u="none" strike="noStrike" cap="none" normalizeH="0" baseline="0" dirty="0">
                <a:ln>
                  <a:noFill/>
                </a:ln>
                <a:solidFill>
                  <a:schemeClr val="tx1"/>
                </a:solidFill>
                <a:effectLst/>
                <a:latin typeface="Arial" panose="020B0604020202020204" pitchFamily="34" charset="0"/>
              </a:rPr>
              <a:t>cloud storage and real-time synchronization </a:t>
            </a:r>
            <a:r>
              <a:rPr kumimoji="0" lang="en-US" altLang="en-US" b="0" i="0" u="none" strike="noStrike" cap="none" normalizeH="0" baseline="0" dirty="0">
                <a:ln>
                  <a:noFill/>
                </a:ln>
                <a:solidFill>
                  <a:schemeClr val="tx1"/>
                </a:solidFill>
                <a:effectLst/>
                <a:latin typeface="Arial" panose="020B0604020202020204" pitchFamily="34" charset="0"/>
              </a:rPr>
              <a:t>for multi-device access.</a:t>
            </a:r>
          </a:p>
        </p:txBody>
      </p:sp>
    </p:spTree>
    <p:extLst>
      <p:ext uri="{BB962C8B-B14F-4D97-AF65-F5344CB8AC3E}">
        <p14:creationId xmlns:p14="http://schemas.microsoft.com/office/powerpoint/2010/main" val="27987436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138</TotalTime>
  <Words>656</Words>
  <Application>Microsoft Office PowerPoint</Application>
  <PresentationFormat>Widescreen</PresentationFormat>
  <Paragraphs>53</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Ion</vt:lpstr>
      <vt:lpstr>Design Thinking and Methodology VIVA VOCE – 06.11.2025 </vt:lpstr>
      <vt:lpstr>ABSTRACT</vt:lpstr>
      <vt:lpstr>LITERATURE SURVEY</vt:lpstr>
      <vt:lpstr>EXISTING METHOD</vt:lpstr>
      <vt:lpstr>PROPOSED METHOD</vt:lpstr>
      <vt:lpstr>METHODOLOGY</vt:lpstr>
      <vt:lpstr>RESULTS AND DISCUSSIONS</vt:lpstr>
      <vt:lpstr>CONCLUSION</vt:lpstr>
      <vt:lpstr>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 and Methodology</dc:title>
  <dc:creator>admin</dc:creator>
  <cp:lastModifiedBy>ruthrapathic49@gmail.com</cp:lastModifiedBy>
  <cp:revision>11</cp:revision>
  <dcterms:created xsi:type="dcterms:W3CDTF">2025-07-24T02:27:40Z</dcterms:created>
  <dcterms:modified xsi:type="dcterms:W3CDTF">2025-11-06T03:02:34Z</dcterms:modified>
</cp:coreProperties>
</file>